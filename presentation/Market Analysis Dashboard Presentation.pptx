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8" r:id="rId4"/>
    <p:sldId id="259" r:id="rId5"/>
    <p:sldId id="260" r:id="rId6"/>
    <p:sldId id="262" r:id="rId7"/>
    <p:sldId id="279" r:id="rId8"/>
    <p:sldId id="261" r:id="rId9"/>
    <p:sldId id="278" r:id="rId10"/>
    <p:sldId id="263" r:id="rId11"/>
    <p:sldId id="264" r:id="rId12"/>
    <p:sldId id="265" r:id="rId13"/>
    <p:sldId id="266" r:id="rId14"/>
    <p:sldId id="267" r:id="rId15"/>
    <p:sldId id="275" r:id="rId16"/>
    <p:sldId id="280" r:id="rId17"/>
    <p:sldId id="277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3E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15" autoAdjust="0"/>
  </p:normalViewPr>
  <p:slideViewPr>
    <p:cSldViewPr snapToGrid="0">
      <p:cViewPr varScale="1">
        <p:scale>
          <a:sx n="88" d="100"/>
          <a:sy n="88" d="100"/>
        </p:scale>
        <p:origin x="1356" y="3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78565-14D1-0D19-B297-75D7503CA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8C4CF67-0384-C7A7-9D63-87980DAE0D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DF3E5-2641-3BA9-538E-6ECF51D3973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81D0E39-53F5-BDB4-C136-B41EF2E56A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2C79734-0BF8-23B4-31A3-29D91E512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841F4-E063-83C8-47B1-57716F39105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4BBD6-A9F1-415C-8E2C-3769EF2B8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62694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412DB-4CED-C1ED-2D7C-6E365597A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C277F29-D9BE-359B-2D89-41EC1FF334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B8D21C-236F-7C14-03B9-6587034CFC7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58A090F-A073-FC08-BD33-2718312CEC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724C07E-4881-097A-E794-767DA024DD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3EDA2-FE44-CC4F-28F3-A3B51975057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2F5B3-7CFA-3CF3-E460-6472F144CB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19489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A18F6-1D08-D6E3-7F61-D5CFEC43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FCF6B-21AA-0720-274E-FC2BD57161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592F3C-7BA4-5C83-9051-350AAF5C7D7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3A22DF8-8691-03F6-54B9-3926EC10AB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6246F2C-C616-C86C-DF6F-92987D09C8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6D05A-3974-D59B-AB0F-F8D10A82ADF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8BC87-D473-62AA-A527-C71C47D9A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313557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rmAutofit/>
          </a:bodyPr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Market Analysis Project Presentation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413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65636D"/>
                </a:solidFill>
                <a:latin typeface="Poppins"/>
                <a:ea typeface="Poppins"/>
                <a:cs typeface="Poppins"/>
                <a:sym typeface="Poppins"/>
              </a:rPr>
              <a:t>Strategic Insights &amp; Recommendations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429000"/>
            <a:ext cx="10668000" cy="2540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953EA3">
                  <a:alpha val="100000"/>
                </a:srgbClr>
              </a:gs>
              <a:gs pos="100000">
                <a:srgbClr val="53195D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2020 - 2022 Performance Review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6223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10160000" y="62230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Project Overview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This analysis evaluates market performance to identify growth drivers and optimization opportunities across key Latin American regions.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540000"/>
            <a:ext cx="3302000" cy="3556000"/>
          </a:xfrm>
          <a:prstGeom prst="roundRect">
            <a:avLst>
              <a:gd name="adj" fmla="val 3076"/>
            </a:avLst>
          </a:prstGeom>
          <a:solidFill>
            <a:srgbClr val="953EA3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254000" rIns="19050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0" i="0" u="none" strike="noStrike">
                <a:solidFill>
                  <a:srgbClr val="1F2329"/>
                </a:solidFill>
                <a:latin typeface="Poppins"/>
                <a:ea typeface="Poppins"/>
                <a:cs typeface="Poppins"/>
                <a:sym typeface="Poppins"/>
              </a:rPr>
              <a:t>🌎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53195D"/>
                </a:solidFill>
                <a:latin typeface="Poppins"/>
                <a:ea typeface="Poppins"/>
                <a:cs typeface="Poppins"/>
                <a:sym typeface="Poppins"/>
              </a:rPr>
              <a:t>Geographic Scope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Focus on four key markets:</a:t>
            </a:r>
          </a:p>
          <a:p>
            <a:pPr marL="177800" indent="-177800" algn="ctr">
              <a:lnSpc>
                <a:spcPct val="125000"/>
              </a:lnSpc>
              <a:buClr>
                <a:srgbClr val="65636D"/>
              </a:buClr>
              <a:buChar char="•"/>
            </a:pPr>
            <a:r>
              <a:rPr lang="en-US" sz="1400" b="1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Brazil</a:t>
            </a:r>
          </a:p>
          <a:p>
            <a:pPr marL="177800" indent="-177800" algn="ctr">
              <a:lnSpc>
                <a:spcPct val="125000"/>
              </a:lnSpc>
              <a:buClr>
                <a:srgbClr val="65636D"/>
              </a:buClr>
              <a:buChar char="•"/>
            </a:pPr>
            <a:r>
              <a:rPr lang="en-US" sz="1400" b="1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Chile</a:t>
            </a:r>
          </a:p>
          <a:p>
            <a:pPr marL="177800" indent="-177800" algn="ctr">
              <a:lnSpc>
                <a:spcPct val="125000"/>
              </a:lnSpc>
              <a:buClr>
                <a:srgbClr val="65636D"/>
              </a:buClr>
              <a:buChar char="•"/>
            </a:pPr>
            <a:r>
              <a:rPr lang="en-US" sz="1400" b="1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Colombia</a:t>
            </a:r>
          </a:p>
          <a:p>
            <a:pPr marL="177800" indent="-177800" algn="ctr">
              <a:lnSpc>
                <a:spcPct val="125000"/>
              </a:lnSpc>
              <a:buClr>
                <a:srgbClr val="65636D"/>
              </a:buClr>
              <a:buChar char="•"/>
            </a:pPr>
            <a:r>
              <a:rPr lang="en-US" sz="1400" b="1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Mexico</a:t>
            </a:r>
          </a:p>
        </p:txBody>
      </p:sp>
      <p:sp>
        <p:nvSpPr>
          <p:cNvPr id="5" name="AutoShape 5"/>
          <p:cNvSpPr/>
          <p:nvPr/>
        </p:nvSpPr>
        <p:spPr>
          <a:xfrm>
            <a:off x="4445000" y="2540000"/>
            <a:ext cx="3302000" cy="3556000"/>
          </a:xfrm>
          <a:prstGeom prst="roundRect">
            <a:avLst>
              <a:gd name="adj" fmla="val 3076"/>
            </a:avLst>
          </a:prstGeom>
          <a:solidFill>
            <a:srgbClr val="953EA3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254000" rIns="19050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0" i="0" u="none" strike="noStrike" dirty="0">
                <a:solidFill>
                  <a:srgbClr val="1F2329"/>
                </a:solidFill>
                <a:latin typeface="Poppins"/>
                <a:ea typeface="Poppins"/>
                <a:cs typeface="Poppins"/>
                <a:sym typeface="Poppins"/>
              </a:rPr>
              <a:t>📅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800" b="1" i="0" u="none" strike="noStrike" dirty="0">
                <a:solidFill>
                  <a:srgbClr val="53195D"/>
                </a:solidFill>
                <a:latin typeface="Poppins"/>
                <a:ea typeface="Poppins"/>
                <a:cs typeface="Poppins"/>
                <a:sym typeface="Poppins"/>
              </a:rPr>
              <a:t>Analysis Period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Comprehensive review of sales and performance data spanning three years:</a:t>
            </a:r>
          </a:p>
          <a:p>
            <a:pPr indent="0" algn="ctr">
              <a:lnSpc>
                <a:spcPct val="125000"/>
              </a:lnSpc>
            </a:pPr>
            <a:r>
              <a:rPr lang="en-US" sz="2400" b="1" i="0" u="none" strike="noStrike" dirty="0">
                <a:solidFill>
                  <a:srgbClr val="953EA3"/>
                </a:solidFill>
                <a:latin typeface="Montserrat"/>
                <a:ea typeface="Montserrat"/>
                <a:cs typeface="Montserrat"/>
                <a:sym typeface="Montserrat"/>
              </a:rPr>
              <a:t>2020 – 2022</a:t>
            </a:r>
          </a:p>
        </p:txBody>
      </p:sp>
      <p:sp>
        <p:nvSpPr>
          <p:cNvPr id="6" name="AutoShape 6"/>
          <p:cNvSpPr/>
          <p:nvPr/>
        </p:nvSpPr>
        <p:spPr>
          <a:xfrm>
            <a:off x="8128000" y="2540000"/>
            <a:ext cx="3302000" cy="3556000"/>
          </a:xfrm>
          <a:prstGeom prst="roundRect">
            <a:avLst>
              <a:gd name="adj" fmla="val 3076"/>
            </a:avLst>
          </a:prstGeom>
          <a:solidFill>
            <a:srgbClr val="953EA3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254000" rIns="19050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0" i="0" u="none" strike="noStrike">
                <a:solidFill>
                  <a:srgbClr val="1F2329"/>
                </a:solidFill>
                <a:latin typeface="Poppins"/>
                <a:ea typeface="Poppins"/>
                <a:cs typeface="Poppins"/>
                <a:sym typeface="Poppins"/>
              </a:rPr>
              <a:t>🔍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53195D"/>
                </a:solidFill>
                <a:latin typeface="Poppins"/>
                <a:ea typeface="Poppins"/>
                <a:cs typeface="Poppins"/>
                <a:sym typeface="Poppins"/>
              </a:rPr>
              <a:t>Key Questions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Strategic areas of inquiry:</a:t>
            </a:r>
          </a:p>
          <a:p>
            <a:pPr marL="177800" indent="-177800" algn="ctr">
              <a:lnSpc>
                <a:spcPct val="125000"/>
              </a:lnSpc>
              <a:buClr>
                <a:srgbClr val="65636D"/>
              </a:buClr>
              <a:buChar char="•"/>
            </a:pPr>
            <a:r>
              <a:rPr lang="en-US" sz="1400" b="0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Who is our </a:t>
            </a:r>
            <a:r>
              <a:rPr lang="en-US" sz="1400" b="1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customer mix</a:t>
            </a:r>
            <a:r>
              <a:rPr lang="en-US" sz="1400" b="0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</a:p>
          <a:p>
            <a:pPr marL="177800" indent="-177800" algn="ctr">
              <a:lnSpc>
                <a:spcPct val="125000"/>
              </a:lnSpc>
              <a:buClr>
                <a:srgbClr val="65636D"/>
              </a:buClr>
              <a:buChar char="•"/>
            </a:pPr>
            <a:r>
              <a:rPr lang="en-US" sz="1400" b="0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What are the </a:t>
            </a:r>
            <a:r>
              <a:rPr lang="en-US" sz="1400" b="1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sales trends</a:t>
            </a:r>
            <a:r>
              <a:rPr lang="en-US" sz="1400" b="0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</a:p>
          <a:p>
            <a:pPr marL="177800" indent="-177800" algn="ctr">
              <a:lnSpc>
                <a:spcPct val="125000"/>
              </a:lnSpc>
              <a:buClr>
                <a:srgbClr val="65636D"/>
              </a:buClr>
              <a:buChar char="•"/>
            </a:pPr>
            <a:r>
              <a:rPr lang="en-US" sz="1400" b="0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Which </a:t>
            </a:r>
            <a:r>
              <a:rPr lang="en-US" sz="1400" b="1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products</a:t>
            </a:r>
            <a:r>
              <a:rPr lang="en-US" sz="1400" b="0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 drive value?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934278" y="1650999"/>
            <a:ext cx="10495722" cy="3318565"/>
          </a:xfrm>
          <a:prstGeom prst="roundRect">
            <a:avLst>
              <a:gd name="adj" fmla="val 6666"/>
            </a:avLst>
          </a:prstGeom>
          <a:solidFill>
            <a:srgbClr val="953EA3">
              <a:alpha val="15000"/>
            </a:srgbClr>
          </a:solidFill>
          <a:ln w="25400" cap="flat" cmpd="sng">
            <a:solidFill>
              <a:srgbClr val="953EA3">
                <a:alpha val="100000"/>
              </a:srgbClr>
            </a:solidFill>
            <a:prstDash val="solid"/>
            <a:round/>
          </a:ln>
        </p:spPr>
        <p:txBody>
          <a:bodyPr vert="horz" wrap="square" lIns="508000" tIns="0" rIns="508000" bIns="0" rtlCol="0" anchor="ctr" anchorCtr="0">
            <a:normAutofit/>
          </a:bodyPr>
          <a:lstStyle/>
          <a:p>
            <a:pPr indent="0" algn="just">
              <a:lnSpc>
                <a:spcPct val="125000"/>
              </a:lnSpc>
              <a:defRPr/>
            </a:pPr>
            <a:r>
              <a:rPr lang="en-US" sz="2000" dirty="0"/>
              <a:t>The business generates large volumes of sales and customer data across multiple products, countries, and customer segments, but lacks a unified and interactive view to analyse performance effectively. Without clear visibility into customer demographics, regional sales patterns, product performance, and trends over time, decision-makers struggle to identify growth opportunities, optimize product strategy, and make timely data-driven decisions. This project aims to address this gap by transforming raw data into an intuitive Market Analysis Dashboard that delivers actionable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3">
            <a:extLst>
              <a:ext uri="{FF2B5EF4-FFF2-40B4-BE49-F238E27FC236}">
                <a16:creationId xmlns:a16="http://schemas.microsoft.com/office/drawing/2014/main" id="{DFE23C38-B53A-DA95-B8D4-6A4E5C569E49}"/>
              </a:ext>
            </a:extLst>
          </p:cNvPr>
          <p:cNvSpPr/>
          <p:nvPr/>
        </p:nvSpPr>
        <p:spPr>
          <a:xfrm>
            <a:off x="808628" y="1435100"/>
            <a:ext cx="10415381" cy="5084233"/>
          </a:xfrm>
          <a:prstGeom prst="roundRect">
            <a:avLst>
              <a:gd name="adj" fmla="val 6666"/>
            </a:avLst>
          </a:prstGeom>
          <a:solidFill>
            <a:srgbClr val="953EA3">
              <a:alpha val="15000"/>
            </a:srgbClr>
          </a:solidFill>
          <a:ln w="25400" cap="flat" cmpd="sng">
            <a:solidFill>
              <a:srgbClr val="953EA3">
                <a:alpha val="100000"/>
              </a:srgbClr>
            </a:solidFill>
            <a:prstDash val="solid"/>
            <a:round/>
          </a:ln>
        </p:spPr>
        <p:txBody>
          <a:bodyPr vert="horz" wrap="square" lIns="508000" tIns="0" rIns="50800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endParaRPr lang="en-US" sz="900" dirty="0"/>
          </a:p>
        </p:txBody>
      </p:sp>
      <p:sp>
        <p:nvSpPr>
          <p:cNvPr id="2" name="AutoShape 2"/>
          <p:cNvSpPr/>
          <p:nvPr/>
        </p:nvSpPr>
        <p:spPr>
          <a:xfrm>
            <a:off x="1016000" y="221544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Objectives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1916289" y="1651000"/>
            <a:ext cx="8548511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800" dirty="0"/>
              <a:t>Provide a high-level overview of business performance using key KPIs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916289" y="261902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US" sz="1800" dirty="0"/>
              <a:t>Analyse customer demographics by  Age, Gender, Income group, Country</a:t>
            </a:r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1916289" y="3272365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800" dirty="0"/>
              <a:t>Identify top performing and under performing products</a:t>
            </a:r>
            <a:r>
              <a:rPr lang="en-US" sz="1400" b="0" i="0" u="none" strike="noStrike" dirty="0">
                <a:solidFill>
                  <a:srgbClr val="84828E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1916289" y="4071055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800" dirty="0"/>
              <a:t>Understand sales distribution across regions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1916289" y="49149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800" dirty="0"/>
              <a:t>Track sales trends over time (Yearly, Quarterly, Monthly)</a:t>
            </a:r>
            <a:endParaRPr lang="en-US" sz="1100" dirty="0"/>
          </a:p>
        </p:txBody>
      </p:sp>
      <p:sp>
        <p:nvSpPr>
          <p:cNvPr id="24" name="AutoShape 16">
            <a:extLst>
              <a:ext uri="{FF2B5EF4-FFF2-40B4-BE49-F238E27FC236}">
                <a16:creationId xmlns:a16="http://schemas.microsoft.com/office/drawing/2014/main" id="{014F032B-4DB8-9EC1-B424-DE39D743B66C}"/>
              </a:ext>
            </a:extLst>
          </p:cNvPr>
          <p:cNvSpPr/>
          <p:nvPr/>
        </p:nvSpPr>
        <p:spPr>
          <a:xfrm>
            <a:off x="1204414" y="5710766"/>
            <a:ext cx="508000" cy="508000"/>
          </a:xfrm>
          <a:prstGeom prst="ellipse">
            <a:avLst/>
          </a:prstGeom>
          <a:solidFill>
            <a:srgbClr val="953EA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6</a:t>
            </a:r>
            <a:endParaRPr lang="en-US" sz="1100" dirty="0"/>
          </a:p>
        </p:txBody>
      </p:sp>
      <p:sp>
        <p:nvSpPr>
          <p:cNvPr id="25" name="AutoShape 4">
            <a:extLst>
              <a:ext uri="{FF2B5EF4-FFF2-40B4-BE49-F238E27FC236}">
                <a16:creationId xmlns:a16="http://schemas.microsoft.com/office/drawing/2014/main" id="{F9E66B92-1EB7-67BF-E461-1F37F0E9BBB2}"/>
              </a:ext>
            </a:extLst>
          </p:cNvPr>
          <p:cNvSpPr/>
          <p:nvPr/>
        </p:nvSpPr>
        <p:spPr>
          <a:xfrm>
            <a:off x="1204414" y="1731432"/>
            <a:ext cx="508000" cy="508000"/>
          </a:xfrm>
          <a:prstGeom prst="ellipse">
            <a:avLst/>
          </a:prstGeom>
          <a:solidFill>
            <a:srgbClr val="953EA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lang="en-US" sz="1100" dirty="0"/>
          </a:p>
        </p:txBody>
      </p:sp>
      <p:sp>
        <p:nvSpPr>
          <p:cNvPr id="26" name="AutoShape 7">
            <a:extLst>
              <a:ext uri="{FF2B5EF4-FFF2-40B4-BE49-F238E27FC236}">
                <a16:creationId xmlns:a16="http://schemas.microsoft.com/office/drawing/2014/main" id="{9096BBB8-6F66-0163-3EF3-7DFC25F35A79}"/>
              </a:ext>
            </a:extLst>
          </p:cNvPr>
          <p:cNvSpPr/>
          <p:nvPr/>
        </p:nvSpPr>
        <p:spPr>
          <a:xfrm>
            <a:off x="1204414" y="2527299"/>
            <a:ext cx="508000" cy="508000"/>
          </a:xfrm>
          <a:prstGeom prst="ellipse">
            <a:avLst/>
          </a:prstGeom>
          <a:solidFill>
            <a:srgbClr val="953EA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lang="en-US" sz="1100"/>
          </a:p>
        </p:txBody>
      </p:sp>
      <p:sp>
        <p:nvSpPr>
          <p:cNvPr id="27" name="AutoShape 10">
            <a:extLst>
              <a:ext uri="{FF2B5EF4-FFF2-40B4-BE49-F238E27FC236}">
                <a16:creationId xmlns:a16="http://schemas.microsoft.com/office/drawing/2014/main" id="{07D9ACCD-3DCC-8DC9-335B-47694187C189}"/>
              </a:ext>
            </a:extLst>
          </p:cNvPr>
          <p:cNvSpPr/>
          <p:nvPr/>
        </p:nvSpPr>
        <p:spPr>
          <a:xfrm>
            <a:off x="1204414" y="3323166"/>
            <a:ext cx="508000" cy="508000"/>
          </a:xfrm>
          <a:prstGeom prst="ellipse">
            <a:avLst/>
          </a:prstGeom>
          <a:solidFill>
            <a:srgbClr val="953EA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lang="en-US" sz="1100"/>
          </a:p>
        </p:txBody>
      </p:sp>
      <p:sp>
        <p:nvSpPr>
          <p:cNvPr id="28" name="AutoShape 13">
            <a:extLst>
              <a:ext uri="{FF2B5EF4-FFF2-40B4-BE49-F238E27FC236}">
                <a16:creationId xmlns:a16="http://schemas.microsoft.com/office/drawing/2014/main" id="{22CFD9FC-9A2A-BEB5-3AA3-F9E50C479182}"/>
              </a:ext>
            </a:extLst>
          </p:cNvPr>
          <p:cNvSpPr/>
          <p:nvPr/>
        </p:nvSpPr>
        <p:spPr>
          <a:xfrm>
            <a:off x="1204414" y="4119033"/>
            <a:ext cx="508000" cy="508000"/>
          </a:xfrm>
          <a:prstGeom prst="ellipse">
            <a:avLst/>
          </a:prstGeom>
          <a:solidFill>
            <a:srgbClr val="953EA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lang="en-US" sz="1100" dirty="0"/>
          </a:p>
        </p:txBody>
      </p:sp>
      <p:sp>
        <p:nvSpPr>
          <p:cNvPr id="29" name="AutoShape 16">
            <a:extLst>
              <a:ext uri="{FF2B5EF4-FFF2-40B4-BE49-F238E27FC236}">
                <a16:creationId xmlns:a16="http://schemas.microsoft.com/office/drawing/2014/main" id="{40EF848E-017F-4F07-BBF4-A600F6E5990E}"/>
              </a:ext>
            </a:extLst>
          </p:cNvPr>
          <p:cNvSpPr/>
          <p:nvPr/>
        </p:nvSpPr>
        <p:spPr>
          <a:xfrm>
            <a:off x="1204414" y="4914900"/>
            <a:ext cx="508000" cy="508000"/>
          </a:xfrm>
          <a:prstGeom prst="ellipse">
            <a:avLst/>
          </a:prstGeom>
          <a:solidFill>
            <a:srgbClr val="953EA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lang="en-US" sz="1100"/>
          </a:p>
        </p:txBody>
      </p:sp>
      <p:sp>
        <p:nvSpPr>
          <p:cNvPr id="30" name="AutoShape 17">
            <a:extLst>
              <a:ext uri="{FF2B5EF4-FFF2-40B4-BE49-F238E27FC236}">
                <a16:creationId xmlns:a16="http://schemas.microsoft.com/office/drawing/2014/main" id="{50E7A241-630B-0260-51FE-9609CCBB6A32}"/>
              </a:ext>
            </a:extLst>
          </p:cNvPr>
          <p:cNvSpPr/>
          <p:nvPr/>
        </p:nvSpPr>
        <p:spPr>
          <a:xfrm>
            <a:off x="1916289" y="5709354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800" dirty="0"/>
              <a:t>Enable detailed product-level analysis using drill-through functionality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>
            <a:extLst>
              <a:ext uri="{FF2B5EF4-FFF2-40B4-BE49-F238E27FC236}">
                <a16:creationId xmlns:a16="http://schemas.microsoft.com/office/drawing/2014/main" id="{D3A99F9D-8378-6C90-AC83-E9DCA401C04E}"/>
              </a:ext>
            </a:extLst>
          </p:cNvPr>
          <p:cNvSpPr/>
          <p:nvPr/>
        </p:nvSpPr>
        <p:spPr>
          <a:xfrm>
            <a:off x="761999" y="1342457"/>
            <a:ext cx="10787743" cy="5167200"/>
          </a:xfrm>
          <a:prstGeom prst="roundRect">
            <a:avLst>
              <a:gd name="adj" fmla="val 6666"/>
            </a:avLst>
          </a:prstGeom>
          <a:solidFill>
            <a:srgbClr val="953EA3">
              <a:alpha val="15000"/>
            </a:srgbClr>
          </a:solidFill>
          <a:ln w="25400" cap="flat" cmpd="sng">
            <a:solidFill>
              <a:srgbClr val="953EA3">
                <a:alpha val="100000"/>
              </a:srgbClr>
            </a:solidFill>
            <a:prstDash val="solid"/>
            <a:round/>
          </a:ln>
        </p:spPr>
        <p:txBody>
          <a:bodyPr vert="horz" wrap="square" lIns="1188000" tIns="0" rIns="432000" bIns="2376000" rtlCol="0" anchor="ctr" anchorCtr="0">
            <a:norm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endParaRPr lang="en-SG" b="1" dirty="0"/>
          </a:p>
          <a:p>
            <a:pPr>
              <a:defRPr sz="1800">
                <a:solidFill>
                  <a:srgbClr val="3C3C3C"/>
                </a:solidFill>
              </a:defRPr>
            </a:pPr>
            <a:endParaRPr lang="en-US" sz="2000" b="1" dirty="0"/>
          </a:p>
          <a:p>
            <a:pPr>
              <a:defRPr sz="1800">
                <a:solidFill>
                  <a:srgbClr val="3C3C3C"/>
                </a:solidFill>
              </a:defRPr>
            </a:pPr>
            <a:endParaRPr lang="en-US" sz="1800" dirty="0">
              <a:solidFill>
                <a:srgbClr val="3C3C3C"/>
              </a:solidFill>
            </a:endParaRPr>
          </a:p>
          <a:p>
            <a:pPr>
              <a:defRPr sz="1800">
                <a:solidFill>
                  <a:srgbClr val="3C3C3C"/>
                </a:solidFill>
              </a:defRPr>
            </a:pPr>
            <a:endParaRPr lang="en-US" dirty="0">
              <a:solidFill>
                <a:srgbClr val="3C3C3C"/>
              </a:solidFill>
            </a:endParaRPr>
          </a:p>
          <a:p>
            <a:pPr>
              <a:defRPr sz="1800">
                <a:solidFill>
                  <a:srgbClr val="3C3C3C"/>
                </a:solidFill>
              </a:defRPr>
            </a:pPr>
            <a:endParaRPr lang="en-SG" sz="2000" b="1" dirty="0"/>
          </a:p>
          <a:p>
            <a:pPr>
              <a:defRPr sz="1800">
                <a:solidFill>
                  <a:srgbClr val="3C3C3C"/>
                </a:solidFill>
              </a:defRPr>
            </a:pPr>
            <a:endParaRPr lang="en-US" sz="1800" dirty="0">
              <a:solidFill>
                <a:srgbClr val="3C3C3C"/>
              </a:solidFill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762000" y="465667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Data </a:t>
            </a:r>
            <a:r>
              <a:rPr lang="en-US" sz="3600" b="1" dirty="0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Preparation</a:t>
            </a:r>
            <a:endParaRPr lang="en-US" sz="1100" dirty="0"/>
          </a:p>
        </p:txBody>
      </p:sp>
      <p:pic>
        <p:nvPicPr>
          <p:cNvPr id="6" name="Picture 5" descr="A magnifying glass over a paper&#10;&#10;AI-generated content may be incorrect.">
            <a:extLst>
              <a:ext uri="{FF2B5EF4-FFF2-40B4-BE49-F238E27FC236}">
                <a16:creationId xmlns:a16="http://schemas.microsoft.com/office/drawing/2014/main" id="{6A19B7F2-132D-21D6-C0E9-DA3D995BE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644" y="5358965"/>
            <a:ext cx="360000" cy="360000"/>
          </a:xfrm>
          <a:prstGeom prst="rect">
            <a:avLst/>
          </a:prstGeom>
        </p:spPr>
      </p:pic>
      <p:pic>
        <p:nvPicPr>
          <p:cNvPr id="7" name="Picture 6" descr="A computer network diagram with a circular object and a globe&#10;&#10;AI-generated content may be incorrect.">
            <a:extLst>
              <a:ext uri="{FF2B5EF4-FFF2-40B4-BE49-F238E27FC236}">
                <a16:creationId xmlns:a16="http://schemas.microsoft.com/office/drawing/2014/main" id="{6320382D-F875-E525-D394-31F6BC16F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2608" y="1713881"/>
            <a:ext cx="360000" cy="360000"/>
          </a:xfrm>
          <a:prstGeom prst="rect">
            <a:avLst/>
          </a:prstGeom>
        </p:spPr>
      </p:pic>
      <p:pic>
        <p:nvPicPr>
          <p:cNvPr id="8" name="Picture 7" descr="A blue circular object with stars and a broom&#10;&#10;AI-generated content may be incorrect.">
            <a:extLst>
              <a:ext uri="{FF2B5EF4-FFF2-40B4-BE49-F238E27FC236}">
                <a16:creationId xmlns:a16="http://schemas.microsoft.com/office/drawing/2014/main" id="{B423E263-25F0-B86E-3764-0DCE26473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644" y="2503514"/>
            <a:ext cx="360000" cy="360000"/>
          </a:xfrm>
          <a:prstGeom prst="rect">
            <a:avLst/>
          </a:prstGeom>
        </p:spPr>
      </p:pic>
      <p:pic>
        <p:nvPicPr>
          <p:cNvPr id="9" name="Picture 8" descr="A calendar with a spiral bound page&#10;&#10;AI-generated content may be incorrect.">
            <a:extLst>
              <a:ext uri="{FF2B5EF4-FFF2-40B4-BE49-F238E27FC236}">
                <a16:creationId xmlns:a16="http://schemas.microsoft.com/office/drawing/2014/main" id="{BA5A732A-0611-F53D-E6D5-C88F72754F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5644" y="3473147"/>
            <a:ext cx="360000" cy="360000"/>
          </a:xfrm>
          <a:prstGeom prst="rect">
            <a:avLst/>
          </a:prstGeom>
        </p:spPr>
      </p:pic>
      <p:pic>
        <p:nvPicPr>
          <p:cNvPr id="10" name="Picture 9" descr="A yellow and grey object with a yellow cylinder&#10;&#10;AI-generated content may be incorrect.">
            <a:extLst>
              <a:ext uri="{FF2B5EF4-FFF2-40B4-BE49-F238E27FC236}">
                <a16:creationId xmlns:a16="http://schemas.microsoft.com/office/drawing/2014/main" id="{2C3BDE38-63C3-A2A1-A395-7750145AEF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1668" y="4227529"/>
            <a:ext cx="360000" cy="36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51D2ED-1676-1698-D39D-F122AFCCFE30}"/>
              </a:ext>
            </a:extLst>
          </p:cNvPr>
          <p:cNvSpPr txBox="1"/>
          <p:nvPr/>
        </p:nvSpPr>
        <p:spPr>
          <a:xfrm>
            <a:off x="1946711" y="4084994"/>
            <a:ext cx="89696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rPr lang="en-SG" sz="1800" b="1" dirty="0">
                <a:solidFill>
                  <a:srgbClr val="53195D"/>
                </a:solidFill>
                <a:latin typeface="Poppins"/>
                <a:cs typeface="Poppins"/>
              </a:rPr>
              <a:t>Data Modelling: </a:t>
            </a:r>
            <a:r>
              <a:rPr lang="en-SG" sz="1600" dirty="0"/>
              <a:t>Establish relationships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SG" dirty="0"/>
              <a:t>		</a:t>
            </a:r>
            <a:r>
              <a:rPr lang="en-SG" sz="1600" dirty="0"/>
              <a:t>1. Sales(Fact) -&gt; Date(Dimension)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SG" sz="1600" dirty="0"/>
              <a:t>		2. Sales(Fact) -&gt; Customer(Dimension</a:t>
            </a:r>
            <a:r>
              <a:rPr lang="en-SG" sz="1600" b="1" dirty="0"/>
              <a:t>)</a:t>
            </a:r>
            <a:endParaRPr lang="en-US" sz="1600" b="1" dirty="0"/>
          </a:p>
          <a:p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C38E74-56CC-B321-8AF7-A071116AF0C3}"/>
              </a:ext>
            </a:extLst>
          </p:cNvPr>
          <p:cNvSpPr txBox="1"/>
          <p:nvPr/>
        </p:nvSpPr>
        <p:spPr>
          <a:xfrm>
            <a:off x="1874529" y="1669178"/>
            <a:ext cx="5820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53195D"/>
                </a:solidFill>
                <a:latin typeface="Poppins"/>
                <a:cs typeface="Poppins"/>
              </a:rPr>
              <a:t>Data Collection</a:t>
            </a:r>
            <a:r>
              <a:rPr lang="en-US" sz="1600" b="1" dirty="0"/>
              <a:t>: </a:t>
            </a:r>
            <a:r>
              <a:rPr lang="en-US" sz="1600" dirty="0"/>
              <a:t>Imported data from 2 csv files</a:t>
            </a:r>
            <a:endParaRPr lang="en-SG" sz="1600" b="1" dirty="0"/>
          </a:p>
          <a:p>
            <a:endParaRPr lang="en-S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707DDD-66A2-FBD0-A68C-C741A01581E9}"/>
              </a:ext>
            </a:extLst>
          </p:cNvPr>
          <p:cNvSpPr txBox="1"/>
          <p:nvPr/>
        </p:nvSpPr>
        <p:spPr>
          <a:xfrm>
            <a:off x="1946711" y="2503514"/>
            <a:ext cx="8969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b="1" dirty="0">
                <a:solidFill>
                  <a:srgbClr val="53195D"/>
                </a:solidFill>
                <a:latin typeface="Poppins"/>
                <a:cs typeface="Poppins"/>
              </a:rPr>
              <a:t>Data Transformation: </a:t>
            </a:r>
            <a:r>
              <a:rPr lang="en-US" sz="1600" dirty="0"/>
              <a:t>Merged the </a:t>
            </a:r>
            <a:r>
              <a:rPr lang="en-US" sz="1600" i="1" dirty="0"/>
              <a:t>First Name</a:t>
            </a:r>
            <a:r>
              <a:rPr lang="en-US" sz="1600" dirty="0"/>
              <a:t> and </a:t>
            </a:r>
            <a:r>
              <a:rPr lang="en-US" sz="1600" i="1" dirty="0"/>
              <a:t>Last Name</a:t>
            </a:r>
            <a:r>
              <a:rPr lang="en-US" sz="1600" dirty="0"/>
              <a:t> columns into a single </a:t>
            </a:r>
            <a:r>
              <a:rPr lang="en-US" sz="1600" i="1" dirty="0"/>
              <a:t>Name 			fi</a:t>
            </a:r>
            <a:r>
              <a:rPr lang="en-US" sz="1600" dirty="0"/>
              <a:t>eld and removed duplicate records based on </a:t>
            </a:r>
            <a:r>
              <a:rPr lang="en-US" sz="1600" i="1" dirty="0"/>
              <a:t>Customer ID</a:t>
            </a:r>
            <a:endParaRPr lang="en-US" sz="1600" dirty="0">
              <a:solidFill>
                <a:srgbClr val="3C3C3C"/>
              </a:solidFill>
            </a:endParaRPr>
          </a:p>
          <a:p>
            <a:endParaRPr lang="en-S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3F958D-7209-C3C4-827C-F852C7F2507B}"/>
              </a:ext>
            </a:extLst>
          </p:cNvPr>
          <p:cNvSpPr txBox="1"/>
          <p:nvPr/>
        </p:nvSpPr>
        <p:spPr>
          <a:xfrm>
            <a:off x="1946711" y="3463476"/>
            <a:ext cx="7844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b="1" dirty="0">
                <a:solidFill>
                  <a:srgbClr val="53195D"/>
                </a:solidFill>
                <a:latin typeface="Poppins"/>
                <a:cs typeface="Poppins"/>
              </a:rPr>
              <a:t>Created Date Table: </a:t>
            </a:r>
            <a:r>
              <a:rPr lang="en-SG" sz="1600" dirty="0"/>
              <a:t>Added Columns: Year, Quarter, Month, Month Number</a:t>
            </a:r>
          </a:p>
          <a:p>
            <a:endParaRPr lang="en-S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DF731A-5CCE-5D5F-69EF-D2FA52241C04}"/>
              </a:ext>
            </a:extLst>
          </p:cNvPr>
          <p:cNvSpPr txBox="1"/>
          <p:nvPr/>
        </p:nvSpPr>
        <p:spPr>
          <a:xfrm>
            <a:off x="1946711" y="5239157"/>
            <a:ext cx="916992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800" b="1" dirty="0">
                <a:solidFill>
                  <a:srgbClr val="53195D"/>
                </a:solidFill>
                <a:latin typeface="Poppins"/>
                <a:cs typeface="Poppins"/>
              </a:rPr>
              <a:t>Prepared for Analysis: 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b="1" dirty="0"/>
              <a:t>		</a:t>
            </a:r>
            <a:r>
              <a:rPr lang="en-US" sz="1600" dirty="0"/>
              <a:t>Created Calculated Column:  age group, income label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		Measures: Total Sales, Total Orders, Average Monthly sales, Previous month 			  sales, %YOY Change, % QOQ Change, %MOM Change</a:t>
            </a:r>
            <a:endParaRPr lang="en-SG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A80B8-31DC-887A-AE0D-F4E5B5381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A39616B-171E-9118-A9DF-616CD8D508ED}"/>
              </a:ext>
            </a:extLst>
          </p:cNvPr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Entity Relationship Diagram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F6ED4C0-4506-FB88-A3B9-49C2F0308498}"/>
              </a:ext>
            </a:extLst>
          </p:cNvPr>
          <p:cNvSpPr/>
          <p:nvPr/>
        </p:nvSpPr>
        <p:spPr>
          <a:xfrm>
            <a:off x="793194" y="1507160"/>
            <a:ext cx="10809084" cy="5047752"/>
          </a:xfrm>
          <a:prstGeom prst="roundRect">
            <a:avLst>
              <a:gd name="adj" fmla="val 6666"/>
            </a:avLst>
          </a:prstGeom>
          <a:solidFill>
            <a:srgbClr val="953EA3">
              <a:alpha val="15000"/>
            </a:srgbClr>
          </a:solidFill>
          <a:ln w="25400" cap="flat" cmpd="sng">
            <a:solidFill>
              <a:srgbClr val="953EA3">
                <a:alpha val="100000"/>
              </a:srgbClr>
            </a:solidFill>
            <a:prstDash val="solid"/>
            <a:round/>
          </a:ln>
        </p:spPr>
        <p:txBody>
          <a:bodyPr vert="horz" wrap="square" lIns="508000" tIns="0" rIns="508000" bIns="0" rtlCol="0" anchor="ctr" anchorCtr="0">
            <a:normAutofit/>
          </a:bodyPr>
          <a:lstStyle/>
          <a:p>
            <a:pPr indent="0" algn="just">
              <a:lnSpc>
                <a:spcPct val="125000"/>
              </a:lnSpc>
              <a:defRPr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DE4137-B3D0-1A6F-08F2-1E54A3F54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090" y="1570267"/>
            <a:ext cx="8393986" cy="4897073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70976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Methodology Overview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dirty="0">
                <a:sym typeface="Open Sans"/>
              </a:rPr>
              <a:t>Our multi-faceted approach combines descriptive analytics with deep-dive segmentation</a:t>
            </a:r>
            <a:r>
              <a:rPr lang="en-US" sz="1800" b="0" i="0" u="none" strike="noStrike" dirty="0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2794000"/>
            <a:ext cx="2540000" cy="2540000"/>
          </a:xfrm>
          <a:prstGeom prst="roundRect">
            <a:avLst>
              <a:gd name="adj" fmla="val 6000"/>
            </a:avLst>
          </a:prstGeom>
          <a:solidFill>
            <a:srgbClr val="953EA3">
              <a:alpha val="15000"/>
            </a:srgbClr>
          </a:solidFill>
          <a:ln w="25400" cap="flat" cmpd="sng">
            <a:solidFill>
              <a:srgbClr val="953EA3">
                <a:alpha val="100000"/>
              </a:srgbClr>
            </a:solidFill>
            <a:prstDash val="solid"/>
            <a:round/>
          </a:ln>
        </p:spPr>
        <p:txBody>
          <a:bodyPr vert="horz" wrap="square" lIns="127000" tIns="0" rIns="12700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0" i="0" u="none" strike="noStrike" dirty="0">
                <a:solidFill>
                  <a:srgbClr val="1F2329"/>
                </a:solidFill>
                <a:latin typeface="Poppins"/>
                <a:ea typeface="Poppins"/>
                <a:cs typeface="Poppins"/>
                <a:sym typeface="Poppins"/>
              </a:rPr>
              <a:t>📊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800" b="1" i="0" u="none" strike="noStrike" dirty="0">
                <a:solidFill>
                  <a:srgbClr val="53195D"/>
                </a:solidFill>
                <a:latin typeface="Poppins"/>
                <a:ea typeface="Poppins"/>
                <a:cs typeface="Poppins"/>
                <a:sym typeface="Poppins"/>
              </a:rPr>
              <a:t>Descriptive Analytics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Interactive dashboards to visualize core metrics and KPIs.</a:t>
            </a:r>
          </a:p>
        </p:txBody>
      </p:sp>
      <p:cxnSp>
        <p:nvCxnSpPr>
          <p:cNvPr id="5" name="Connector 5"/>
          <p:cNvCxnSpPr/>
          <p:nvPr/>
        </p:nvCxnSpPr>
        <p:spPr>
          <a:xfrm rot="-57290">
            <a:off x="3428418" y="4057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84828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6" name="AutoShape 6"/>
          <p:cNvSpPr/>
          <p:nvPr/>
        </p:nvSpPr>
        <p:spPr>
          <a:xfrm>
            <a:off x="4318000" y="2794000"/>
            <a:ext cx="2540000" cy="2540000"/>
          </a:xfrm>
          <a:prstGeom prst="roundRect">
            <a:avLst>
              <a:gd name="adj" fmla="val 6000"/>
            </a:avLst>
          </a:prstGeom>
          <a:solidFill>
            <a:srgbClr val="953EA3">
              <a:alpha val="15000"/>
            </a:srgbClr>
          </a:solidFill>
          <a:ln w="25400" cap="flat" cmpd="sng">
            <a:solidFill>
              <a:srgbClr val="953EA3">
                <a:alpha val="100000"/>
              </a:srgbClr>
            </a:solidFill>
            <a:prstDash val="solid"/>
            <a:round/>
          </a:ln>
        </p:spPr>
        <p:txBody>
          <a:bodyPr vert="horz" wrap="square" lIns="127000" tIns="0" rIns="12700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0" i="0" u="none" strike="noStrike">
                <a:solidFill>
                  <a:srgbClr val="1F2329"/>
                </a:solidFill>
                <a:latin typeface="Poppins"/>
                <a:ea typeface="Poppins"/>
                <a:cs typeface="Poppins"/>
                <a:sym typeface="Poppins"/>
              </a:rPr>
              <a:t>📈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53195D"/>
                </a:solidFill>
                <a:latin typeface="Poppins"/>
                <a:ea typeface="Poppins"/>
                <a:cs typeface="Poppins"/>
                <a:sym typeface="Poppins"/>
              </a:rPr>
              <a:t>Trend Analysis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Time-series review to identify seasonal patterns and anomalies.</a:t>
            </a:r>
          </a:p>
        </p:txBody>
      </p:sp>
      <p:cxnSp>
        <p:nvCxnSpPr>
          <p:cNvPr id="7" name="Connector 7"/>
          <p:cNvCxnSpPr/>
          <p:nvPr/>
        </p:nvCxnSpPr>
        <p:spPr>
          <a:xfrm rot="-57290">
            <a:off x="6984418" y="4057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84828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8" name="AutoShape 8"/>
          <p:cNvSpPr/>
          <p:nvPr/>
        </p:nvSpPr>
        <p:spPr>
          <a:xfrm>
            <a:off x="7874000" y="2794000"/>
            <a:ext cx="2540000" cy="2540000"/>
          </a:xfrm>
          <a:prstGeom prst="roundRect">
            <a:avLst>
              <a:gd name="adj" fmla="val 6000"/>
            </a:avLst>
          </a:prstGeom>
          <a:solidFill>
            <a:srgbClr val="953EA3">
              <a:alpha val="15000"/>
            </a:srgbClr>
          </a:solidFill>
          <a:ln w="25400" cap="flat" cmpd="sng">
            <a:solidFill>
              <a:srgbClr val="953EA3">
                <a:alpha val="100000"/>
              </a:srgbClr>
            </a:solidFill>
            <a:prstDash val="solid"/>
            <a:round/>
          </a:ln>
        </p:spPr>
        <p:txBody>
          <a:bodyPr vert="horz" wrap="square" lIns="127000" tIns="0" rIns="12700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0" i="0" u="none" strike="noStrike" dirty="0">
                <a:solidFill>
                  <a:srgbClr val="1F2329"/>
                </a:solidFill>
                <a:latin typeface="Poppins"/>
                <a:ea typeface="Poppins"/>
                <a:cs typeface="Poppins"/>
                <a:sym typeface="Poppins"/>
              </a:rPr>
              <a:t>🎯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800" b="1" i="0" u="none" strike="noStrike" dirty="0">
                <a:solidFill>
                  <a:srgbClr val="53195D"/>
                </a:solidFill>
                <a:latin typeface="Poppins"/>
                <a:ea typeface="Poppins"/>
                <a:cs typeface="Poppins"/>
                <a:sym typeface="Poppins"/>
              </a:rPr>
              <a:t>Segmentation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Drilling down by Region, Income Group, and Product 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2809CA-10AB-9B73-A813-BE691C44F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550DA83-4589-9C64-9DBC-98BF9367E712}"/>
              </a:ext>
            </a:extLst>
          </p:cNvPr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Data Scope &amp; Assumptions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98BD3D5-52DA-099C-9883-786D209CB56C}"/>
              </a:ext>
            </a:extLst>
          </p:cNvPr>
          <p:cNvSpPr/>
          <p:nvPr/>
        </p:nvSpPr>
        <p:spPr>
          <a:xfrm>
            <a:off x="762000" y="1651000"/>
            <a:ext cx="5080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953EA3"/>
                </a:solidFill>
                <a:latin typeface="Montserrat" panose="00000500000000000000" pitchFamily="2" charset="0"/>
                <a:ea typeface="Poppins"/>
                <a:cs typeface="Poppins"/>
                <a:sym typeface="Poppins"/>
              </a:rPr>
              <a:t>Transaction Data</a:t>
            </a:r>
            <a:endParaRPr lang="en-US" sz="2000" dirty="0">
              <a:latin typeface="Montserrat" panose="00000500000000000000" pitchFamily="2" charset="0"/>
            </a:endParaRPr>
          </a:p>
          <a:p>
            <a:pPr indent="0" algn="l">
              <a:lnSpc>
                <a:spcPct val="125000"/>
              </a:lnSpc>
            </a:pPr>
            <a:r>
              <a:rPr lang="en-US" sz="1600" dirty="0">
                <a:sym typeface="Open Sans"/>
              </a:rPr>
              <a:t>Core operational metrics including:</a:t>
            </a:r>
          </a:p>
          <a:p>
            <a:pPr marL="177800" indent="-177800" algn="l">
              <a:lnSpc>
                <a:spcPct val="125000"/>
              </a:lnSpc>
              <a:buClr>
                <a:srgbClr val="65636D"/>
              </a:buClr>
              <a:buChar char="•"/>
            </a:pPr>
            <a:r>
              <a:rPr lang="en-US" dirty="0">
                <a:sym typeface="Open Sans"/>
              </a:rPr>
              <a:t>Order Volumes</a:t>
            </a:r>
          </a:p>
          <a:p>
            <a:pPr marL="177800" indent="-177800" algn="l">
              <a:lnSpc>
                <a:spcPct val="125000"/>
              </a:lnSpc>
              <a:buClr>
                <a:srgbClr val="65636D"/>
              </a:buClr>
              <a:buChar char="•"/>
            </a:pPr>
            <a:r>
              <a:rPr lang="en-US" dirty="0">
                <a:sym typeface="Open Sans"/>
              </a:rPr>
              <a:t>Sales Revenue</a:t>
            </a:r>
          </a:p>
          <a:p>
            <a:pPr marL="177800" indent="-177800" algn="l">
              <a:lnSpc>
                <a:spcPct val="125000"/>
              </a:lnSpc>
              <a:buClr>
                <a:srgbClr val="65636D"/>
              </a:buClr>
              <a:buChar char="•"/>
            </a:pPr>
            <a:r>
              <a:rPr lang="en-US" dirty="0">
                <a:sym typeface="Open Sans"/>
              </a:rPr>
              <a:t>Quantity Sold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01CC54D-B30E-0356-1408-99966754FFD5}"/>
              </a:ext>
            </a:extLst>
          </p:cNvPr>
          <p:cNvSpPr/>
          <p:nvPr/>
        </p:nvSpPr>
        <p:spPr>
          <a:xfrm>
            <a:off x="6350000" y="1651000"/>
            <a:ext cx="5080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953EA3"/>
                </a:solidFill>
                <a:latin typeface="Montserrat" panose="00000500000000000000" pitchFamily="2" charset="0"/>
                <a:ea typeface="Poppins"/>
                <a:cs typeface="Poppins"/>
                <a:sym typeface="Poppins"/>
              </a:rPr>
              <a:t>Customer Demographics</a:t>
            </a:r>
            <a:endParaRPr lang="en-US" sz="2000" dirty="0">
              <a:latin typeface="Montserrat" panose="00000500000000000000" pitchFamily="2" charset="0"/>
            </a:endParaRPr>
          </a:p>
          <a:p>
            <a:pPr indent="0">
              <a:lnSpc>
                <a:spcPct val="125000"/>
              </a:lnSpc>
            </a:pPr>
            <a:r>
              <a:rPr lang="en-US" sz="1600" dirty="0">
                <a:sym typeface="Open Sans"/>
              </a:rPr>
              <a:t>Detailed profiles segmentation:</a:t>
            </a:r>
          </a:p>
          <a:p>
            <a:pPr marL="177800" indent="-177800">
              <a:lnSpc>
                <a:spcPct val="125000"/>
              </a:lnSpc>
              <a:buClr>
                <a:srgbClr val="65636D"/>
              </a:buClr>
              <a:buFont typeface="Arial"/>
              <a:buChar char="•"/>
            </a:pPr>
            <a:r>
              <a:rPr lang="en-US" dirty="0">
                <a:sym typeface="Open Sans"/>
              </a:rPr>
              <a:t>Age Groups</a:t>
            </a:r>
          </a:p>
          <a:p>
            <a:pPr marL="177800" indent="-177800">
              <a:lnSpc>
                <a:spcPct val="125000"/>
              </a:lnSpc>
              <a:buClr>
                <a:srgbClr val="65636D"/>
              </a:buClr>
              <a:buFont typeface="Arial"/>
              <a:buChar char="•"/>
            </a:pPr>
            <a:r>
              <a:rPr lang="en-US" dirty="0">
                <a:sym typeface="Open Sans"/>
              </a:rPr>
              <a:t>Gender Split</a:t>
            </a:r>
          </a:p>
          <a:p>
            <a:pPr marL="177800" indent="-177800">
              <a:lnSpc>
                <a:spcPct val="125000"/>
              </a:lnSpc>
              <a:buClr>
                <a:srgbClr val="65636D"/>
              </a:buClr>
              <a:buFont typeface="Arial"/>
              <a:buChar char="•"/>
            </a:pPr>
            <a:r>
              <a:rPr lang="en-US" dirty="0">
                <a:sym typeface="Open Sans"/>
              </a:rPr>
              <a:t>Income Segments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5D14A18A-E4CF-B9BE-F982-0D9F2AB807AD}"/>
              </a:ext>
            </a:extLst>
          </p:cNvPr>
          <p:cNvSpPr/>
          <p:nvPr/>
        </p:nvSpPr>
        <p:spPr>
          <a:xfrm>
            <a:off x="762000" y="4191000"/>
            <a:ext cx="10668000" cy="1524000"/>
          </a:xfrm>
          <a:prstGeom prst="roundRect">
            <a:avLst>
              <a:gd name="adj" fmla="val 6666"/>
            </a:avLst>
          </a:prstGeom>
          <a:solidFill>
            <a:srgbClr val="953EA3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381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53195D"/>
                </a:solidFill>
                <a:latin typeface="Poppins"/>
                <a:ea typeface="Poppins"/>
                <a:cs typeface="Poppins"/>
                <a:sym typeface="Poppins"/>
              </a:rPr>
              <a:t>Analysis Parameters</a:t>
            </a:r>
            <a:endParaRPr lang="en-US" sz="1100" dirty="0"/>
          </a:p>
          <a:p>
            <a:pPr marL="177800" indent="-177800">
              <a:lnSpc>
                <a:spcPct val="125000"/>
              </a:lnSpc>
              <a:buClr>
                <a:srgbClr val="65636D"/>
              </a:buClr>
              <a:buFont typeface="Arial"/>
              <a:buChar char="•"/>
            </a:pPr>
            <a:r>
              <a:rPr lang="en-US" sz="1800" dirty="0">
                <a:sym typeface="Open Sans"/>
              </a:rPr>
              <a:t>Timeframe: </a:t>
            </a:r>
            <a:r>
              <a:rPr lang="en-US" dirty="0">
                <a:sym typeface="Open Sans"/>
              </a:rPr>
              <a:t>January 2020 – December 2022 (Monthly/Quarterly granularity)</a:t>
            </a:r>
          </a:p>
          <a:p>
            <a:pPr marL="177800" indent="-177800">
              <a:lnSpc>
                <a:spcPct val="125000"/>
              </a:lnSpc>
              <a:buClr>
                <a:srgbClr val="65636D"/>
              </a:buClr>
              <a:buFont typeface="Arial"/>
              <a:buChar char="•"/>
            </a:pPr>
            <a:r>
              <a:rPr lang="en-US" sz="1800" dirty="0">
                <a:sym typeface="Open Sans"/>
              </a:rPr>
              <a:t>Geography:</a:t>
            </a:r>
            <a:r>
              <a:rPr lang="en-US" dirty="0">
                <a:sym typeface="Open Sans"/>
              </a:rPr>
              <a:t> Brazil, Chile, Colombia, Mexico</a:t>
            </a:r>
          </a:p>
        </p:txBody>
      </p:sp>
    </p:spTree>
    <p:extLst>
      <p:ext uri="{BB962C8B-B14F-4D97-AF65-F5344CB8AC3E}">
        <p14:creationId xmlns:p14="http://schemas.microsoft.com/office/powerpoint/2010/main" val="611926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SG" sz="3600" b="1" dirty="0">
                <a:solidFill>
                  <a:srgbClr val="53195D"/>
                </a:solidFill>
                <a:latin typeface="Montserrat"/>
              </a:rPr>
              <a:t>Executive Summary</a:t>
            </a:r>
            <a:endParaRPr lang="en-US" sz="3600" b="1" dirty="0">
              <a:solidFill>
                <a:srgbClr val="53195D"/>
              </a:solidFill>
              <a:latin typeface="Montserrat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69809" y="1895024"/>
            <a:ext cx="1800000" cy="774000"/>
          </a:xfrm>
          <a:prstGeom prst="roundRect">
            <a:avLst>
              <a:gd name="adj" fmla="val 5333"/>
            </a:avLst>
          </a:prstGeom>
          <a:solidFill>
            <a:srgbClr val="953EA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Poppins"/>
              </a:rPr>
              <a:t>$311.27M</a:t>
            </a:r>
            <a:endParaRPr 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indent="0" algn="ctr">
              <a:lnSpc>
                <a:spcPct val="125000"/>
              </a:lnSpc>
            </a:pPr>
            <a:r>
              <a:rPr lang="en-US" i="0" u="none" strike="noStrike" dirty="0">
                <a:solidFill>
                  <a:srgbClr val="FFFFFF">
                    <a:alpha val="90196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Total Sales</a:t>
            </a:r>
          </a:p>
        </p:txBody>
      </p:sp>
      <p:sp>
        <p:nvSpPr>
          <p:cNvPr id="4" name="AutoShape 4"/>
          <p:cNvSpPr/>
          <p:nvPr/>
        </p:nvSpPr>
        <p:spPr>
          <a:xfrm>
            <a:off x="2866050" y="1895024"/>
            <a:ext cx="1800000" cy="774000"/>
          </a:xfrm>
          <a:prstGeom prst="roundRect">
            <a:avLst>
              <a:gd name="adj" fmla="val 5333"/>
            </a:avLst>
          </a:prstGeom>
          <a:solidFill>
            <a:srgbClr val="FFBA1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70000" lnSpcReduction="20000"/>
          </a:bodyPr>
          <a:lstStyle/>
          <a:p>
            <a:pPr algn="ctr">
              <a:lnSpc>
                <a:spcPct val="125000"/>
              </a:lnSpc>
              <a:defRPr/>
            </a:pPr>
            <a:r>
              <a:rPr lang="en-US" sz="29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Poppins"/>
              </a:rPr>
              <a:t>$8.65M</a:t>
            </a:r>
            <a:endParaRPr lang="en-US" sz="2900" b="1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Avg Monthly Sales</a:t>
            </a:r>
          </a:p>
        </p:txBody>
      </p:sp>
      <p:sp>
        <p:nvSpPr>
          <p:cNvPr id="5" name="AutoShape 5"/>
          <p:cNvSpPr/>
          <p:nvPr/>
        </p:nvSpPr>
        <p:spPr>
          <a:xfrm>
            <a:off x="5196000" y="1895024"/>
            <a:ext cx="1800000" cy="774000"/>
          </a:xfrm>
          <a:prstGeom prst="roundRect">
            <a:avLst>
              <a:gd name="adj" fmla="val 5333"/>
            </a:avLst>
          </a:prstGeom>
          <a:solidFill>
            <a:srgbClr val="8DB65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Poppins"/>
              </a:rPr>
              <a:t>244K</a:t>
            </a:r>
            <a:endParaRPr lang="en-US" sz="2000" b="1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indent="0" algn="ctr">
              <a:lnSpc>
                <a:spcPct val="125000"/>
              </a:lnSpc>
            </a:pPr>
            <a:r>
              <a:rPr lang="en-US" sz="15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Total Quantity</a:t>
            </a:r>
          </a:p>
        </p:txBody>
      </p:sp>
      <p:sp>
        <p:nvSpPr>
          <p:cNvPr id="6" name="AutoShape 6"/>
          <p:cNvSpPr/>
          <p:nvPr/>
        </p:nvSpPr>
        <p:spPr>
          <a:xfrm>
            <a:off x="9855900" y="1895024"/>
            <a:ext cx="1800000" cy="774000"/>
          </a:xfrm>
          <a:prstGeom prst="roundRect">
            <a:avLst>
              <a:gd name="adj" fmla="val 666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53195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Poppins"/>
              </a:rPr>
              <a:t>44K</a:t>
            </a:r>
            <a:endParaRPr 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indent="0" algn="ctr">
              <a:lnSpc>
                <a:spcPct val="125000"/>
              </a:lnSpc>
            </a:pPr>
            <a:r>
              <a:rPr lang="en-US" b="0" i="0" u="none" strike="noStrike" dirty="0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Total Orders</a:t>
            </a:r>
          </a:p>
        </p:txBody>
      </p:sp>
      <p:sp>
        <p:nvSpPr>
          <p:cNvPr id="7" name="AutoShape 7"/>
          <p:cNvSpPr/>
          <p:nvPr/>
        </p:nvSpPr>
        <p:spPr>
          <a:xfrm>
            <a:off x="7525950" y="1895024"/>
            <a:ext cx="1800000" cy="774000"/>
          </a:xfrm>
          <a:prstGeom prst="roundRect">
            <a:avLst>
              <a:gd name="adj" fmla="val 6666"/>
            </a:avLst>
          </a:prstGeom>
          <a:solidFill>
            <a:schemeClr val="accent6">
              <a:lumMod val="20000"/>
              <a:lumOff val="80000"/>
            </a:scheme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53195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Poppins"/>
              </a:rPr>
              <a:t>1,000</a:t>
            </a:r>
            <a:endParaRPr 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indent="0" algn="ctr">
              <a:lnSpc>
                <a:spcPct val="125000"/>
              </a:lnSpc>
            </a:pPr>
            <a:r>
              <a:rPr lang="en-US" b="0" i="0" u="none" strike="noStrike" dirty="0">
                <a:solidFill>
                  <a:srgbClr val="65636D"/>
                </a:solidFill>
                <a:latin typeface="Open Sans"/>
                <a:ea typeface="Open Sans"/>
                <a:cs typeface="Open Sans"/>
                <a:sym typeface="Open Sans"/>
              </a:rPr>
              <a:t>Total Customers</a:t>
            </a: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A3EC9CFA-992E-7144-EBE6-F47B6DB7D4C7}"/>
              </a:ext>
            </a:extLst>
          </p:cNvPr>
          <p:cNvSpPr/>
          <p:nvPr/>
        </p:nvSpPr>
        <p:spPr>
          <a:xfrm>
            <a:off x="569809" y="3071972"/>
            <a:ext cx="11086091" cy="3151028"/>
          </a:xfrm>
          <a:prstGeom prst="roundRect">
            <a:avLst>
              <a:gd name="adj" fmla="val 6666"/>
            </a:avLst>
          </a:prstGeom>
          <a:solidFill>
            <a:srgbClr val="953EA3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381000" tIns="0" rIns="0" bIns="0" rtlCol="0" anchor="ctr" anchorCtr="0">
            <a:norm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/>
              <a:t>311.27M in total sales across 44K orders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/>
              <a:t>1,000 customers contributing consistent monthly revenue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/>
              <a:t>Strong performance from home and lifestyle product categories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/>
              <a:t>Balanced customer demographics across age and gender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/>
              <a:t>Medium-income customers contribute the largest share of revenue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/>
              <a:t>Latin American markets drive the majority of sales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05898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Customer Demographics Insights</a:t>
            </a:r>
            <a:endParaRPr 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3A5E10-CFC1-3A04-FA3D-E95AC5812993}"/>
              </a:ext>
            </a:extLst>
          </p:cNvPr>
          <p:cNvSpPr txBox="1"/>
          <p:nvPr/>
        </p:nvSpPr>
        <p:spPr>
          <a:xfrm>
            <a:off x="7391400" y="1152523"/>
            <a:ext cx="4561115" cy="5399579"/>
          </a:xfrm>
          <a:prstGeom prst="rect">
            <a:avLst/>
          </a:prstGeom>
          <a:solidFill>
            <a:srgbClr val="953EA3">
              <a:alpha val="14902"/>
            </a:srgb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SG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SG" sz="1800" b="1" dirty="0">
                <a:solidFill>
                  <a:srgbClr val="53195D"/>
                </a:solidFill>
                <a:latin typeface="Montserrat"/>
              </a:rPr>
              <a:t>Age &amp; Gender</a:t>
            </a:r>
            <a:endParaRPr lang="en-US" altLang="en-US" sz="1800" b="1" dirty="0">
              <a:solidFill>
                <a:srgbClr val="53195D"/>
              </a:solidFill>
              <a:latin typeface="Montserrat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Customer distribution is fairly balanced across age groups, with no single group dominating.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The 26–45 age range contributes the largest share, indicating strong participation from working professionals.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sz="1200" dirty="0"/>
              <a:t>Gender split is nearly 50–50, indicating broad market appeal</a:t>
            </a: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SG" sz="1800" b="1" dirty="0">
              <a:solidFill>
                <a:srgbClr val="53195D"/>
              </a:solidFill>
              <a:latin typeface="Montserra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SG" sz="1800" b="1" dirty="0">
                <a:solidFill>
                  <a:srgbClr val="53195D"/>
                </a:solidFill>
                <a:latin typeface="Montserrat"/>
              </a:rPr>
              <a:t>Country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Customer base is concentrated in Latin American markets.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Colombia leads slightly, but distribution is relatively balanced.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SG" sz="1800" b="1" dirty="0">
              <a:solidFill>
                <a:srgbClr val="53195D"/>
              </a:solidFill>
              <a:latin typeface="Montserra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SG" sz="1800" b="1" dirty="0">
                <a:solidFill>
                  <a:srgbClr val="53195D"/>
                </a:solidFill>
                <a:latin typeface="Montserrat"/>
              </a:rPr>
              <a:t>Income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Medium-income customers form the largest and most valuable segment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High-income customers also contribute significantly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Low-income segment has lower sales contribution</a:t>
            </a:r>
          </a:p>
          <a:p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99D500-03A2-36BC-3308-ED0F326C9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61" y="1578428"/>
            <a:ext cx="7186603" cy="41553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249539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Sales Performance Highlights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4F5378-D64D-8FDD-B83F-0B29E795D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862" y="1481473"/>
            <a:ext cx="3211713" cy="24551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908656-249F-7D4D-0E8A-574A52F0B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49" y="3936634"/>
            <a:ext cx="3211713" cy="27077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A7E84B-BEEB-9315-570A-65340D4246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149" y="1405429"/>
            <a:ext cx="3211713" cy="25054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EBAD783-7930-4574-FA15-0F3046C262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3862" y="4003331"/>
            <a:ext cx="3211712" cy="26410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FD7F302-E83A-AF85-6CE2-E59F99A027D5}"/>
              </a:ext>
            </a:extLst>
          </p:cNvPr>
          <p:cNvSpPr txBox="1"/>
          <p:nvPr/>
        </p:nvSpPr>
        <p:spPr>
          <a:xfrm>
            <a:off x="7946571" y="391053"/>
            <a:ext cx="4082143" cy="6340197"/>
          </a:xfrm>
          <a:prstGeom prst="rect">
            <a:avLst/>
          </a:prstGeom>
          <a:solidFill>
            <a:srgbClr val="953EA3">
              <a:alpha val="14902"/>
            </a:srgb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SG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 dirty="0">
                <a:solidFill>
                  <a:srgbClr val="53195D"/>
                </a:solidFill>
                <a:latin typeface="Montserrat"/>
              </a:rPr>
              <a:t>Top 10 Products by Sales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Categories like Curtains, Lighting, Furniture, Kitchen Appliances, Bedding lead revenue.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Indicates strong performance in home and lifestyle products.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b="1" dirty="0">
              <a:solidFill>
                <a:srgbClr val="53195D"/>
              </a:solidFill>
              <a:latin typeface="Montserra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 dirty="0">
                <a:solidFill>
                  <a:srgbClr val="53195D"/>
                </a:solidFill>
                <a:latin typeface="Montserrat"/>
              </a:rPr>
              <a:t>Bottom 10 Products by Sales</a:t>
            </a:r>
          </a:p>
          <a:p>
            <a:pPr marL="171450" lvl="2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  Items such as Dress, Formal Shirt, Skirt, Shoes show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      lower sales contribution.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b="1" dirty="0">
              <a:solidFill>
                <a:srgbClr val="53195D"/>
              </a:solidFill>
              <a:latin typeface="Montserra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 dirty="0">
                <a:solidFill>
                  <a:srgbClr val="53195D"/>
                </a:solidFill>
                <a:latin typeface="Montserrat"/>
              </a:rPr>
              <a:t>Geographical insight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Colombia and Chile generate higher sales volume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Brazil and Mexico show moderate but consistent contribution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SG" sz="1800" b="1" dirty="0">
              <a:solidFill>
                <a:srgbClr val="53195D"/>
              </a:solidFill>
              <a:latin typeface="Montserra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SG" sz="1800" b="1" dirty="0">
                <a:solidFill>
                  <a:srgbClr val="53195D"/>
                </a:solidFill>
                <a:latin typeface="Montserrat"/>
              </a:rPr>
              <a:t>Income</a:t>
            </a: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b="1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Medium income customers contribute the highest sales     </a:t>
            </a: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  High income follows closely</a:t>
            </a: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  Low income contributes the least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SG" sz="1200" dirty="0"/>
          </a:p>
          <a:p>
            <a:endParaRPr lang="en-SG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43407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Time Series Trends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A61DE5-7698-CD80-A175-8389573FB3E9}"/>
              </a:ext>
            </a:extLst>
          </p:cNvPr>
          <p:cNvSpPr txBox="1"/>
          <p:nvPr/>
        </p:nvSpPr>
        <p:spPr>
          <a:xfrm>
            <a:off x="7285055" y="714488"/>
            <a:ext cx="4501661" cy="5760000"/>
          </a:xfrm>
          <a:prstGeom prst="rect">
            <a:avLst/>
          </a:prstGeom>
          <a:solidFill>
            <a:srgbClr val="953EA3">
              <a:alpha val="14902"/>
            </a:srgb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SG" sz="1800" b="1" dirty="0">
              <a:solidFill>
                <a:srgbClr val="53195D"/>
              </a:solidFill>
              <a:latin typeface="Montserra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SG" sz="1800" b="1" dirty="0">
                <a:solidFill>
                  <a:srgbClr val="53195D"/>
                </a:solidFill>
                <a:latin typeface="Montserrat"/>
              </a:rPr>
              <a:t>Yearly Trend &amp; YoY Change</a:t>
            </a:r>
          </a:p>
          <a:p>
            <a:pPr marL="1714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  Sales declined slightly in 2021, followed by a strong</a:t>
            </a:r>
          </a:p>
          <a:p>
            <a:pPr lvl="3">
              <a:lnSpc>
                <a:spcPct val="150000"/>
              </a:lnSpc>
            </a:pPr>
            <a:r>
              <a:rPr lang="en-US" sz="1200" dirty="0"/>
              <a:t>       recovery in 2022.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 The YoY change confirms this pattern:</a:t>
            </a:r>
          </a:p>
          <a:p>
            <a:pPr marL="171450" lvl="2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  2021: Negative YoY indicates a temporary slowdown</a:t>
            </a:r>
          </a:p>
          <a:p>
            <a:pPr marL="1714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  2022: Positive YoY shows renewed growth momentum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SG" sz="1800" b="1" dirty="0">
                <a:solidFill>
                  <a:srgbClr val="53195D"/>
                </a:solidFill>
                <a:latin typeface="Montserrat"/>
              </a:rPr>
              <a:t>Quarterly Trend &amp; QoQ Change</a:t>
            </a:r>
            <a:endParaRPr lang="en-US" sz="1800" b="1" dirty="0">
              <a:solidFill>
                <a:srgbClr val="53195D"/>
              </a:solidFill>
              <a:latin typeface="Montserrat"/>
            </a:endParaRP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Quarterly sales fluctuate within a stable range, showing recurring ups and downs.</a:t>
            </a: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QoQ changes are mostly moderate, with no extreme spikes or drops.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SG" sz="1800" b="1" dirty="0">
              <a:solidFill>
                <a:srgbClr val="53195D"/>
              </a:solidFill>
              <a:latin typeface="Montserrat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SG" sz="1800" b="1" dirty="0">
                <a:solidFill>
                  <a:srgbClr val="53195D"/>
                </a:solidFill>
                <a:latin typeface="Montserrat"/>
              </a:rPr>
              <a:t>Monthly Trend &amp; MoM Change</a:t>
            </a:r>
            <a:endParaRPr lang="en-US" sz="1800" b="1" dirty="0">
              <a:solidFill>
                <a:srgbClr val="53195D"/>
              </a:solidFill>
              <a:latin typeface="Montserrat"/>
            </a:endParaRP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Sales rise and fall across months, with repeating peak and dip periods.</a:t>
            </a: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MoM changes alternate between positive and negative values, reflecting normal operational fluctuations.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SG" sz="1200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lang="en-SG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SG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SG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SG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SG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0F14E4-8954-019C-A9A3-BB2EF8599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97" y="1232236"/>
            <a:ext cx="6567127" cy="51063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236694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Product Detail-</a:t>
            </a:r>
            <a:r>
              <a:rPr lang="en-SG" sz="3600" b="1" dirty="0">
                <a:solidFill>
                  <a:srgbClr val="53195D"/>
                </a:solidFill>
                <a:latin typeface="Montserrat"/>
              </a:rPr>
              <a:t>Drill-Through Analysis</a:t>
            </a:r>
            <a:endParaRPr lang="en-US" sz="3600" b="1" dirty="0">
              <a:solidFill>
                <a:srgbClr val="53195D"/>
              </a:solidFill>
              <a:latin typeface="Montserrat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330083" y="1270000"/>
            <a:ext cx="3557116" cy="4270551"/>
          </a:xfrm>
          <a:prstGeom prst="roundRect">
            <a:avLst>
              <a:gd name="adj" fmla="val 2857"/>
            </a:avLst>
          </a:prstGeom>
          <a:solidFill>
            <a:srgbClr val="953EA3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84828E"/>
                </a:solidFill>
                <a:latin typeface="Poppins"/>
                <a:ea typeface="Poppins"/>
                <a:cs typeface="Poppins"/>
                <a:sym typeface="Poppins"/>
              </a:rPr>
              <a:t>SPOTLIGHT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2000" b="1" i="0" u="sng" strike="noStrike" dirty="0">
                <a:solidFill>
                  <a:srgbClr val="53195D"/>
                </a:solidFill>
                <a:latin typeface="Montserrat" panose="00000500000000000000" pitchFamily="2" charset="0"/>
                <a:ea typeface="Poppins"/>
                <a:cs typeface="Poppins"/>
                <a:sym typeface="Poppins"/>
              </a:rPr>
              <a:t>Dining Set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This is a drill-through page that allows          deep analysis of a selected product.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It enables decision-makers to move from     summary-level insights to product-level details.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It supports:</a:t>
            </a:r>
          </a:p>
          <a:p>
            <a:pPr lvl="2"/>
            <a:r>
              <a:rPr lang="en-US" sz="1200" dirty="0"/>
              <a:t>         Pricing decisions</a:t>
            </a:r>
          </a:p>
          <a:p>
            <a:r>
              <a:rPr lang="en-US" sz="1200" dirty="0"/>
              <a:t>         Target setting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         Product-specific promotions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Dining Set is a high-performing product with strong customer demand.</a:t>
            </a:r>
          </a:p>
          <a:p>
            <a:pPr>
              <a:lnSpc>
                <a:spcPct val="125000"/>
              </a:lnSpc>
            </a:pPr>
            <a:endParaRPr lang="en-US" sz="1200" dirty="0"/>
          </a:p>
          <a:p>
            <a:pPr>
              <a:lnSpc>
                <a:spcPct val="125000"/>
              </a:lnSpc>
            </a:pPr>
            <a:endParaRPr lang="en-US" sz="2000" b="1" i="0" u="sng" strike="noStrike" dirty="0">
              <a:solidFill>
                <a:srgbClr val="53195D"/>
              </a:solidFill>
              <a:latin typeface="Montserrat" panose="00000500000000000000" pitchFamily="2" charset="0"/>
              <a:ea typeface="Poppins"/>
              <a:cs typeface="Poppins"/>
              <a:sym typeface="Poppin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0C62FB-3A41-870F-2B0A-BCE27DA90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332" y="1150536"/>
            <a:ext cx="6437020" cy="498900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28596"/>
            <a:ext cx="9989736" cy="4870380"/>
          </a:xfrm>
          <a:prstGeom prst="roundRect">
            <a:avLst>
              <a:gd name="adj" fmla="val 0"/>
            </a:avLst>
          </a:prstGeom>
          <a:solidFill>
            <a:srgbClr val="953EA3">
              <a:alpha val="14902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The business shows stable overall performance with consistent sales across products and regions.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Customer and regional analysis indicate diversified revenue with strong contribution from medium-income customers.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Time series trends reveal seasonal patterns with recovery after short-term dips, not long-term decline.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Product drill-through highlights performance gaps against targets, proving the value of detailed analysis.</a:t>
            </a:r>
          </a:p>
          <a:p>
            <a:pPr indent="0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98A24D-848D-6E67-E34F-53C37B14C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B04FB7D-AF0C-DB3F-A080-FBB37F6195CE}"/>
              </a:ext>
            </a:extLst>
          </p:cNvPr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53195D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92BBD5C-6825-C534-609F-3F3D6C28F0E3}"/>
              </a:ext>
            </a:extLst>
          </p:cNvPr>
          <p:cNvSpPr/>
          <p:nvPr/>
        </p:nvSpPr>
        <p:spPr>
          <a:xfrm>
            <a:off x="762000" y="1828800"/>
            <a:ext cx="9517464" cy="3346101"/>
          </a:xfrm>
          <a:prstGeom prst="roundRect">
            <a:avLst>
              <a:gd name="adj" fmla="val 0"/>
            </a:avLst>
          </a:prstGeom>
          <a:solidFill>
            <a:srgbClr val="953EA3">
              <a:alpha val="14902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Use seasonality insights to plan promotions, inventory, and targets.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Focus on high-performing product categories and optimize or review underperforming ones.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Increase order frequency for strong products through targeted offers or bundles.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Prioritize medium-income customer segments while sustaining high-value customers.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37909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7" r="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2540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1229</TotalTime>
  <Words>1033</Words>
  <Application>Microsoft Office PowerPoint</Application>
  <PresentationFormat>Widescreen</PresentationFormat>
  <Paragraphs>204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Montserrat</vt:lpstr>
      <vt:lpstr>Open Sans</vt:lpstr>
      <vt:lpstr>Poppins</vt:lpstr>
      <vt:lpstr>Wingdings</vt:lpstr>
      <vt:lpstr>Office 主题​​</vt:lpstr>
      <vt:lpstr>默认主题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Sheeba Soosai</cp:lastModifiedBy>
  <cp:revision>10</cp:revision>
  <dcterms:modified xsi:type="dcterms:W3CDTF">2026-03-22T01:36:06Z</dcterms:modified>
</cp:coreProperties>
</file>